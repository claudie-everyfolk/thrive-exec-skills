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72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Grocery</c:v>
                  </c:pt>
                  <c:pt idx="1">
                    <c:v>Pantry</c:v>
                  </c:pt>
                  <c:pt idx="2">
                    <c:v>Supplements</c:v>
                  </c:pt>
                  <c:pt idx="3">
                    <c:v>Beauty</c:v>
                  </c:pt>
                  <c:pt idx="4">
                    <c:v>Snacks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1800</c:v>
                </c:pt>
                <c:pt idx="2">
                  <c:v>1200</c:v>
                </c:pt>
                <c:pt idx="3">
                  <c:v>900</c:v>
                </c:pt>
                <c:pt idx="4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Grocery</c:v>
                </c:pt>
              </c:strCache>
            </c:strRef>
          </c:tx>
          <c:spPr>
            <a:solidFill>
              <a:srgbClr val="00723F"/>
            </a:solidFill>
            <a:ln w="31750" cap="flat">
              <a:solidFill>
                <a:srgbClr val="0072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23F"/>
              </a:solidFill>
              <a:ln w="9525" cap="flat">
                <a:solidFill>
                  <a:srgbClr val="0072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1100</c:v>
                </c:pt>
                <c:pt idx="1">
                  <c:v>1050</c:v>
                </c:pt>
                <c:pt idx="2">
                  <c:v>3800</c:v>
                </c:pt>
                <c:pt idx="3">
                  <c:v>1400</c:v>
                </c:pt>
                <c:pt idx="4">
                  <c:v>1000</c:v>
                </c:pt>
                <c:pt idx="5">
                  <c:v>950</c:v>
                </c:pt>
                <c:pt idx="6">
                  <c:v>980</c:v>
                </c:pt>
                <c:pt idx="7">
                  <c:v>900</c:v>
                </c:pt>
                <c:pt idx="8">
                  <c:v>920</c:v>
                </c:pt>
                <c:pt idx="9">
                  <c:v>870</c:v>
                </c:pt>
                <c:pt idx="10">
                  <c:v>800</c:v>
                </c:pt>
                <c:pt idx="11">
                  <c:v>850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Pantry Staples</c:v>
                </c:pt>
              </c:strCache>
            </c:strRef>
          </c:tx>
          <c:spPr>
            <a:solidFill>
              <a:srgbClr val="52B788"/>
            </a:solidFill>
            <a:ln w="3175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480</c:v>
                </c:pt>
                <c:pt idx="1">
                  <c:v>460</c:v>
                </c:pt>
                <c:pt idx="2">
                  <c:v>1950</c:v>
                </c:pt>
                <c:pt idx="3">
                  <c:v>620</c:v>
                </c:pt>
                <c:pt idx="4">
                  <c:v>440</c:v>
                </c:pt>
                <c:pt idx="5">
                  <c:v>420</c:v>
                </c:pt>
                <c:pt idx="6">
                  <c:v>430</c:v>
                </c:pt>
                <c:pt idx="7">
                  <c:v>400</c:v>
                </c:pt>
                <c:pt idx="8">
                  <c:v>410</c:v>
                </c:pt>
                <c:pt idx="9">
                  <c:v>390</c:v>
                </c:pt>
                <c:pt idx="10">
                  <c:v>370</c:v>
                </c:pt>
                <c:pt idx="11">
                  <c:v>380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Supplements</c:v>
                </c:pt>
              </c:strCache>
            </c:strRef>
          </c:tx>
          <c:spPr>
            <a:solidFill>
              <a:srgbClr val="2D6A4F"/>
            </a:solidFill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520</c:v>
                </c:pt>
                <c:pt idx="1">
                  <c:v>500</c:v>
                </c:pt>
                <c:pt idx="2">
                  <c:v>580</c:v>
                </c:pt>
                <c:pt idx="3">
                  <c:v>490</c:v>
                </c:pt>
                <c:pt idx="4">
                  <c:v>480</c:v>
                </c:pt>
                <c:pt idx="5">
                  <c:v>470</c:v>
                </c:pt>
                <c:pt idx="6">
                  <c:v>475</c:v>
                </c:pt>
                <c:pt idx="7">
                  <c:v>460</c:v>
                </c:pt>
                <c:pt idx="8">
                  <c:v>465</c:v>
                </c:pt>
                <c:pt idx="9">
                  <c:v>450</c:v>
                </c:pt>
                <c:pt idx="10">
                  <c:v>440</c:v>
                </c:pt>
                <c:pt idx="11">
                  <c:v>435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2D6A4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0723F">
              <a:alpha val="2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7E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THRIVE MARKET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Category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Review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&amp; Retention Analysis  |  Q1 2025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246888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$X.XM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+X% MoM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71600"/>
            <a:ext cx="246888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X,XXX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Members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+X% MoM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71600"/>
            <a:ext cx="246888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X.X%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X.X%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[Replace with insight from data]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[Replace with insight from data]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[Replace with insight from data]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Performance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188720"/>
            <a:ext cx="2926080" cy="1051560"/>
          </a:xfrm>
          <a:prstGeom prst="rect">
            <a:avLst/>
          </a:prstGeom>
          <a:solidFill>
            <a:srgbClr val="F8FA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7512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675120" y="1645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[Grocery at $X.XM]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0" y="2423160"/>
            <a:ext cx="2926080" cy="1051560"/>
          </a:xfrm>
          <a:prstGeom prst="rect">
            <a:avLst/>
          </a:prstGeom>
          <a:solidFill>
            <a:srgbClr val="F8FAF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517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7512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Retention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6751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[Category name]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0" y="3657600"/>
            <a:ext cx="2926080" cy="1051560"/>
          </a:xfrm>
          <a:prstGeom prst="rect">
            <a:avLst/>
          </a:prstGeom>
          <a:solidFill>
            <a:srgbClr val="F8FA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862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751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67512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[Category with rising churn]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 Retention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by category, Jan - Dec 2025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0116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March: Batesville warehouse outage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274320" cy="27432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" y="1508760"/>
            <a:ext cx="36576" cy="292608"/>
          </a:xfrm>
          <a:prstGeom prst="rect">
            <a:avLst/>
          </a:prstGeom>
          <a:solidFill>
            <a:srgbClr val="B7E4C7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Batesville conveyor system failure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801368"/>
            <a:ext cx="274320" cy="27432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2075688"/>
            <a:ext cx="36576" cy="292608"/>
          </a:xfrm>
          <a:prstGeom prst="rect">
            <a:avLst/>
          </a:prstGeom>
          <a:solidFill>
            <a:srgbClr val="B7E4C7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709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24-28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709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shipping backlog builds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368296"/>
            <a:ext cx="274320" cy="27432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272" y="2642616"/>
            <a:ext cx="36576" cy="292608"/>
          </a:xfrm>
          <a:prstGeom prst="rect">
            <a:avLst/>
          </a:prstGeom>
          <a:solidFill>
            <a:srgbClr val="B7E4C7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276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1-5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2768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ticket volume peaks at 4.2x normal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935224"/>
            <a:ext cx="274320" cy="27432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272" y="3209544"/>
            <a:ext cx="36576" cy="292608"/>
          </a:xfrm>
          <a:prstGeom prst="rect">
            <a:avLst/>
          </a:prstGeom>
          <a:solidFill>
            <a:srgbClr val="B7E4C7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2843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843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cleared, proactive comms sent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502152"/>
            <a:ext cx="274320" cy="274320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410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410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~5,700 late orders, ~2,800 excess churns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206240"/>
            <a:ext cx="64008" cy="6400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Grocery and Pantry Staples churn ~3x normal in March. Supplements, Beauty, and Snacks unaffected (different fulfillment zone).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solidFill>
            <a:srgbClr val="F8FAF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Fulfillment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[Detail on cross-warehouse routing for high-volume categories]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7863840" cy="1051560"/>
          </a:xfrm>
          <a:prstGeom prst="rect">
            <a:avLst/>
          </a:prstGeom>
          <a:solidFill>
            <a:srgbClr val="F8FAF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Member Comms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[Detail on automated delay notifications within 24 hours]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F8FAF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00723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[Detail on targeting Mar churns with reactivation offers]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82880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healthy living easy and affordable for everyone.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886200" y="347472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thrivemarket.com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Thrive Market - Monthly Performance Review</dc:title>
  <dc:subject>PptxGenJS Presentation</dc:subject>
  <dc:creator>Thrive Market</dc:creator>
  <cp:lastModifiedBy>Thrive Market</cp:lastModifiedBy>
  <cp:revision>1</cp:revision>
  <dcterms:created xsi:type="dcterms:W3CDTF">2026-04-16T12:56:10Z</dcterms:created>
  <dcterms:modified xsi:type="dcterms:W3CDTF">2026-04-16T12:56:10Z</dcterms:modified>
</cp:coreProperties>
</file>